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</p:sldIdLst>
  <p:sldSz cy="8572500" cx="15240000"/>
  <p:notesSz cx="6858000" cy="9144000"/>
  <p:embeddedFontLst>
    <p:embeddedFont>
      <p:font typeface="Ubuntu"/>
      <p:regular r:id="rId9"/>
      <p:bold r:id="rId10"/>
      <p:italic r:id="rId11"/>
      <p:boldItalic r:id="rId12"/>
    </p:embeddedFont>
    <p:embeddedFont>
      <p:font typeface="Source Code Pro"/>
      <p:regular r:id="rId13"/>
      <p:bold r:id="rId14"/>
      <p:italic r:id="rId15"/>
      <p:boldItalic r:id="rId16"/>
    </p:embeddedFont>
    <p:embeddedFont>
      <p:font typeface="Quattrocento Sans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1" roundtripDataSignature="AMtx7mgvj7bYfRZWBb4Y8B5J2Ka6qa2lI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QuattrocentoSans-boldItalic.fntdata"/><Relationship Id="rId11" Type="http://schemas.openxmlformats.org/officeDocument/2006/relationships/font" Target="fonts/Ubuntu-italic.fntdata"/><Relationship Id="rId10" Type="http://schemas.openxmlformats.org/officeDocument/2006/relationships/font" Target="fonts/Ubuntu-bold.fntdata"/><Relationship Id="rId21" Type="http://customschemas.google.com/relationships/presentationmetadata" Target="metadata"/><Relationship Id="rId13" Type="http://schemas.openxmlformats.org/officeDocument/2006/relationships/font" Target="fonts/SourceCodePro-regular.fntdata"/><Relationship Id="rId12" Type="http://schemas.openxmlformats.org/officeDocument/2006/relationships/font" Target="fonts/Ubuntu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font" Target="fonts/Ubuntu-regular.fntdata"/><Relationship Id="rId15" Type="http://schemas.openxmlformats.org/officeDocument/2006/relationships/font" Target="fonts/SourceCodePro-italic.fntdata"/><Relationship Id="rId14" Type="http://schemas.openxmlformats.org/officeDocument/2006/relationships/font" Target="fonts/SourceCodePro-bold.fntdata"/><Relationship Id="rId17" Type="http://schemas.openxmlformats.org/officeDocument/2006/relationships/font" Target="fonts/QuattrocentoSans-regular.fntdata"/><Relationship Id="rId16" Type="http://schemas.openxmlformats.org/officeDocument/2006/relationships/font" Target="fonts/SourceCodePro-boldItalic.fntdata"/><Relationship Id="rId5" Type="http://schemas.openxmlformats.org/officeDocument/2006/relationships/slide" Target="slides/slide1.xml"/><Relationship Id="rId19" Type="http://schemas.openxmlformats.org/officeDocument/2006/relationships/font" Target="fonts/QuattrocentoSans-italic.fntdata"/><Relationship Id="rId6" Type="http://schemas.openxmlformats.org/officeDocument/2006/relationships/slide" Target="slides/slide2.xml"/><Relationship Id="rId18" Type="http://schemas.openxmlformats.org/officeDocument/2006/relationships/font" Target="fonts/QuattrocentoSans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" name="Google Shape;46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2" name="Google Shape;102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41D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762000" y="1333500"/>
            <a:ext cx="13716000" cy="1000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850">
                <a:solidFill>
                  <a:srgbClr val="F2F5F6"/>
                </a:solidFill>
                <a:latin typeface="Ubuntu"/>
                <a:ea typeface="Ubuntu"/>
                <a:cs typeface="Ubuntu"/>
                <a:sym typeface="Ubuntu"/>
              </a:rPr>
              <a:t>ROCK, PAPER, SCISSORS</a:t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762000" y="2238375"/>
            <a:ext cx="137160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25">
                <a:solidFill>
                  <a:srgbClr val="67DBD1"/>
                </a:solidFill>
                <a:latin typeface="Ubuntu"/>
                <a:ea typeface="Ubuntu"/>
                <a:cs typeface="Ubuntu"/>
                <a:sym typeface="Ubuntu"/>
              </a:rPr>
              <a:t>TOURNAMENT</a:t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762000" y="3071850"/>
            <a:ext cx="137160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B6C4CE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Python Mini Project</a:t>
            </a:r>
            <a:endParaRPr sz="1600"/>
          </a:p>
        </p:txBody>
      </p:sp>
      <p:sp>
        <p:nvSpPr>
          <p:cNvPr id="19" name="Google Shape;19;p1"/>
          <p:cNvSpPr/>
          <p:nvPr/>
        </p:nvSpPr>
        <p:spPr>
          <a:xfrm>
            <a:off x="4905375" y="4333875"/>
            <a:ext cx="1238400" cy="12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575">
                <a:solidFill>
                  <a:srgbClr val="F2F5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✊</a:t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7000875" y="4333875"/>
            <a:ext cx="1238400" cy="12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575">
                <a:solidFill>
                  <a:srgbClr val="F2F5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✋</a:t>
            </a: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9096375" y="4333875"/>
            <a:ext cx="1238400" cy="12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575">
                <a:solidFill>
                  <a:srgbClr val="F2F5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✌️</a:t>
            </a: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762000" y="7317750"/>
            <a:ext cx="137160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2F5F6"/>
                </a:solidFill>
                <a:latin typeface="Ubuntu"/>
                <a:ea typeface="Ubuntu"/>
                <a:cs typeface="Ubuntu"/>
                <a:sym typeface="Ubuntu"/>
              </a:rPr>
              <a:t>Yurii Slobodchukov</a:t>
            </a:r>
            <a:endParaRPr sz="2000"/>
          </a:p>
        </p:txBody>
      </p:sp>
      <p:sp>
        <p:nvSpPr>
          <p:cNvPr id="23" name="Google Shape;23;p1"/>
          <p:cNvSpPr/>
          <p:nvPr/>
        </p:nvSpPr>
        <p:spPr>
          <a:xfrm>
            <a:off x="762000" y="7841550"/>
            <a:ext cx="137160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B6C4CE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DAFT Sep2026</a:t>
            </a:r>
            <a:endParaRPr sz="1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41D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"/>
          <p:cNvSpPr/>
          <p:nvPr/>
        </p:nvSpPr>
        <p:spPr>
          <a:xfrm>
            <a:off x="762000" y="552450"/>
            <a:ext cx="13716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00">
                <a:solidFill>
                  <a:srgbClr val="F2F5F6"/>
                </a:solidFill>
                <a:latin typeface="Ubuntu"/>
                <a:ea typeface="Ubuntu"/>
                <a:cs typeface="Ubuntu"/>
                <a:sym typeface="Ubuntu"/>
              </a:rPr>
              <a:t>GAME OVERVIEW</a:t>
            </a:r>
            <a:endParaRPr/>
          </a:p>
        </p:txBody>
      </p:sp>
      <p:sp>
        <p:nvSpPr>
          <p:cNvPr id="30" name="Google Shape;30;p2"/>
          <p:cNvSpPr/>
          <p:nvPr/>
        </p:nvSpPr>
        <p:spPr>
          <a:xfrm>
            <a:off x="762000" y="1895475"/>
            <a:ext cx="13716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225">
                <a:solidFill>
                  <a:srgbClr val="67DBD1"/>
                </a:solidFill>
                <a:latin typeface="Ubuntu"/>
                <a:ea typeface="Ubuntu"/>
                <a:cs typeface="Ubuntu"/>
                <a:sym typeface="Ubuntu"/>
              </a:rPr>
              <a:t>Best-of-five tournament</a:t>
            </a:r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762000" y="3295650"/>
            <a:ext cx="6477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67DBD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Objective</a:t>
            </a: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762000" y="3857625"/>
            <a:ext cx="7524750" cy="666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25">
                <a:solidFill>
                  <a:srgbClr val="F2F5F6"/>
                </a:solidFill>
                <a:latin typeface="Ubuntu"/>
                <a:ea typeface="Ubuntu"/>
                <a:cs typeface="Ubuntu"/>
                <a:sym typeface="Ubuntu"/>
              </a:rPr>
              <a:t>Be the first to win 3 rounds.</a:t>
            </a:r>
            <a:endParaRPr/>
          </a:p>
        </p:txBody>
      </p:sp>
      <p:sp>
        <p:nvSpPr>
          <p:cNvPr id="33" name="Google Shape;33;p2"/>
          <p:cNvSpPr/>
          <p:nvPr/>
        </p:nvSpPr>
        <p:spPr>
          <a:xfrm>
            <a:off x="8858250" y="3219450"/>
            <a:ext cx="56197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625">
                <a:solidFill>
                  <a:srgbClr val="F2F5F6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Player  vs  Computer</a:t>
            </a: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9144000" y="3876675"/>
            <a:ext cx="104775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5850">
                <a:solidFill>
                  <a:srgbClr val="F2F5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✊</a:t>
            </a: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11144250" y="3876675"/>
            <a:ext cx="104775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5850">
                <a:solidFill>
                  <a:srgbClr val="F2F5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✋</a:t>
            </a:r>
            <a:endParaRPr/>
          </a:p>
        </p:txBody>
      </p:sp>
      <p:sp>
        <p:nvSpPr>
          <p:cNvPr id="36" name="Google Shape;36;p2"/>
          <p:cNvSpPr/>
          <p:nvPr/>
        </p:nvSpPr>
        <p:spPr>
          <a:xfrm>
            <a:off x="13144500" y="3876675"/>
            <a:ext cx="104775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5850">
                <a:solidFill>
                  <a:srgbClr val="F2F5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✌️</a:t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8858250" y="5067300"/>
            <a:ext cx="16192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B6C4CE"/>
                </a:solidFill>
                <a:latin typeface="Ubuntu"/>
                <a:ea typeface="Ubuntu"/>
                <a:cs typeface="Ubuntu"/>
                <a:sym typeface="Ubuntu"/>
              </a:rPr>
              <a:t>Rock</a:t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10858500" y="5067300"/>
            <a:ext cx="16192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B6C4CE"/>
                </a:solidFill>
                <a:latin typeface="Ubuntu"/>
                <a:ea typeface="Ubuntu"/>
                <a:cs typeface="Ubuntu"/>
                <a:sym typeface="Ubuntu"/>
              </a:rPr>
              <a:t>Paper</a:t>
            </a: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12858750" y="5067300"/>
            <a:ext cx="16192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B6C4CE"/>
                </a:solidFill>
                <a:latin typeface="Ubuntu"/>
                <a:ea typeface="Ubuntu"/>
                <a:cs typeface="Ubuntu"/>
                <a:sym typeface="Ubuntu"/>
              </a:rPr>
              <a:t>Scissors</a:t>
            </a: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762000" y="6210300"/>
            <a:ext cx="6286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67DBD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Win condition</a:t>
            </a: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762000" y="6772275"/>
            <a:ext cx="67627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F2F5F6"/>
                </a:solidFill>
                <a:latin typeface="Ubuntu"/>
                <a:ea typeface="Ubuntu"/>
                <a:cs typeface="Ubuntu"/>
                <a:sym typeface="Ubuntu"/>
              </a:rPr>
              <a:t>Player reaches 3 wins first.</a:t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8191500" y="6210300"/>
            <a:ext cx="6286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67DBD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Lose condition</a:t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8191500" y="6772275"/>
            <a:ext cx="62865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F2F5F6"/>
                </a:solidFill>
                <a:latin typeface="Ubuntu"/>
                <a:ea typeface="Ubuntu"/>
                <a:cs typeface="Ubuntu"/>
                <a:sym typeface="Ubuntu"/>
              </a:rPr>
              <a:t>Computer reaches 3 wins first.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41D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"/>
          <p:cNvSpPr/>
          <p:nvPr/>
        </p:nvSpPr>
        <p:spPr>
          <a:xfrm>
            <a:off x="762000" y="552450"/>
            <a:ext cx="13716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00">
                <a:solidFill>
                  <a:srgbClr val="F2F5F6"/>
                </a:solidFill>
                <a:latin typeface="Ubuntu"/>
                <a:ea typeface="Ubuntu"/>
                <a:cs typeface="Ubuntu"/>
                <a:sym typeface="Ubuntu"/>
              </a:rPr>
              <a:t>TECHNICAL DESIGN</a:t>
            </a:r>
            <a:endParaRPr/>
          </a:p>
        </p:txBody>
      </p:sp>
      <p:sp>
        <p:nvSpPr>
          <p:cNvPr id="50" name="Google Shape;50;p3"/>
          <p:cNvSpPr/>
          <p:nvPr/>
        </p:nvSpPr>
        <p:spPr>
          <a:xfrm>
            <a:off x="714375" y="1714500"/>
            <a:ext cx="4000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F2F5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📦</a:t>
            </a:r>
            <a:endParaRPr/>
          </a:p>
        </p:txBody>
      </p:sp>
      <p:sp>
        <p:nvSpPr>
          <p:cNvPr id="51" name="Google Shape;51;p3"/>
          <p:cNvSpPr/>
          <p:nvPr/>
        </p:nvSpPr>
        <p:spPr>
          <a:xfrm>
            <a:off x="1285875" y="1752600"/>
            <a:ext cx="3952875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67DBD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DATA STRUCTURES</a:t>
            </a:r>
            <a:endParaRPr/>
          </a:p>
        </p:txBody>
      </p:sp>
      <p:sp>
        <p:nvSpPr>
          <p:cNvPr id="52" name="Google Shape;52;p3"/>
          <p:cNvSpPr/>
          <p:nvPr/>
        </p:nvSpPr>
        <p:spPr>
          <a:xfrm>
            <a:off x="762000" y="2390775"/>
            <a:ext cx="37147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50">
                <a:solidFill>
                  <a:srgbClr val="B6C4CE"/>
                </a:solidFill>
                <a:latin typeface="Ubuntu"/>
                <a:ea typeface="Ubuntu"/>
                <a:cs typeface="Ubuntu"/>
                <a:sym typeface="Ubuntu"/>
              </a:rPr>
              <a:t>List</a:t>
            </a:r>
            <a:endParaRPr/>
          </a:p>
        </p:txBody>
      </p:sp>
      <p:sp>
        <p:nvSpPr>
          <p:cNvPr id="53" name="Google Shape;53;p3"/>
          <p:cNvSpPr/>
          <p:nvPr/>
        </p:nvSpPr>
        <p:spPr>
          <a:xfrm>
            <a:off x="762000" y="2847975"/>
            <a:ext cx="4095750" cy="409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F2F5F6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["rock", "paper",</a:t>
            </a:r>
            <a:endParaRPr/>
          </a:p>
        </p:txBody>
      </p:sp>
      <p:sp>
        <p:nvSpPr>
          <p:cNvPr id="54" name="Google Shape;54;p3"/>
          <p:cNvSpPr/>
          <p:nvPr/>
        </p:nvSpPr>
        <p:spPr>
          <a:xfrm>
            <a:off x="762000" y="3238500"/>
            <a:ext cx="4095750" cy="409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F2F5F6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"scissors"]</a:t>
            </a:r>
            <a:endParaRPr/>
          </a:p>
        </p:txBody>
      </p:sp>
      <p:sp>
        <p:nvSpPr>
          <p:cNvPr id="55" name="Google Shape;55;p3"/>
          <p:cNvSpPr/>
          <p:nvPr/>
        </p:nvSpPr>
        <p:spPr>
          <a:xfrm>
            <a:off x="5286375" y="1714500"/>
            <a:ext cx="4000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F2F5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🧠</a:t>
            </a:r>
            <a:endParaRPr/>
          </a:p>
        </p:txBody>
      </p:sp>
      <p:sp>
        <p:nvSpPr>
          <p:cNvPr id="56" name="Google Shape;56;p3"/>
          <p:cNvSpPr/>
          <p:nvPr/>
        </p:nvSpPr>
        <p:spPr>
          <a:xfrm>
            <a:off x="5857875" y="1752600"/>
            <a:ext cx="3000375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67DBD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GAME STATE</a:t>
            </a:r>
            <a:endParaRPr/>
          </a:p>
        </p:txBody>
      </p:sp>
      <p:sp>
        <p:nvSpPr>
          <p:cNvPr id="57" name="Google Shape;57;p3"/>
          <p:cNvSpPr/>
          <p:nvPr/>
        </p:nvSpPr>
        <p:spPr>
          <a:xfrm>
            <a:off x="5334000" y="2390775"/>
            <a:ext cx="35242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50">
                <a:solidFill>
                  <a:srgbClr val="B6C4CE"/>
                </a:solidFill>
                <a:latin typeface="Ubuntu"/>
                <a:ea typeface="Ubuntu"/>
                <a:cs typeface="Ubuntu"/>
                <a:sym typeface="Ubuntu"/>
              </a:rPr>
              <a:t>Dictionary</a:t>
            </a:r>
            <a:endParaRPr/>
          </a:p>
        </p:txBody>
      </p:sp>
      <p:sp>
        <p:nvSpPr>
          <p:cNvPr id="58" name="Google Shape;58;p3"/>
          <p:cNvSpPr/>
          <p:nvPr/>
        </p:nvSpPr>
        <p:spPr>
          <a:xfrm>
            <a:off x="5334000" y="2847975"/>
            <a:ext cx="3524250" cy="409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67DBD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game_state</a:t>
            </a:r>
            <a:endParaRPr/>
          </a:p>
        </p:txBody>
      </p:sp>
      <p:sp>
        <p:nvSpPr>
          <p:cNvPr id="59" name="Google Shape;59;p3"/>
          <p:cNvSpPr/>
          <p:nvPr/>
        </p:nvSpPr>
        <p:spPr>
          <a:xfrm>
            <a:off x="5334000" y="3276600"/>
            <a:ext cx="3524250" cy="37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50">
                <a:solidFill>
                  <a:srgbClr val="F2F5F6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├─ current_round</a:t>
            </a:r>
            <a:endParaRPr/>
          </a:p>
        </p:txBody>
      </p:sp>
      <p:sp>
        <p:nvSpPr>
          <p:cNvPr id="60" name="Google Shape;60;p3"/>
          <p:cNvSpPr/>
          <p:nvPr/>
        </p:nvSpPr>
        <p:spPr>
          <a:xfrm>
            <a:off x="5334000" y="3667125"/>
            <a:ext cx="3524250" cy="37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50">
                <a:solidFill>
                  <a:srgbClr val="F2F5F6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├─ player_wins</a:t>
            </a:r>
            <a:endParaRPr/>
          </a:p>
        </p:txBody>
      </p:sp>
      <p:sp>
        <p:nvSpPr>
          <p:cNvPr id="61" name="Google Shape;61;p3"/>
          <p:cNvSpPr/>
          <p:nvPr/>
        </p:nvSpPr>
        <p:spPr>
          <a:xfrm>
            <a:off x="5334000" y="4057650"/>
            <a:ext cx="3524250" cy="37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50">
                <a:solidFill>
                  <a:srgbClr val="F2F5F6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└─ computer_wins</a:t>
            </a:r>
            <a:endParaRPr/>
          </a:p>
        </p:txBody>
      </p:sp>
      <p:sp>
        <p:nvSpPr>
          <p:cNvPr id="62" name="Google Shape;62;p3"/>
          <p:cNvSpPr/>
          <p:nvPr/>
        </p:nvSpPr>
        <p:spPr>
          <a:xfrm>
            <a:off x="714375" y="4867275"/>
            <a:ext cx="4000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F2F5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⚙️</a:t>
            </a:r>
            <a:endParaRPr/>
          </a:p>
        </p:txBody>
      </p:sp>
      <p:sp>
        <p:nvSpPr>
          <p:cNvPr id="63" name="Google Shape;63;p3"/>
          <p:cNvSpPr/>
          <p:nvPr/>
        </p:nvSpPr>
        <p:spPr>
          <a:xfrm>
            <a:off x="1285875" y="4905375"/>
            <a:ext cx="61912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67DBD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MAIN FUNCTIONS</a:t>
            </a: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762000" y="5514975"/>
            <a:ext cx="40576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F2F5F6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get_player_choice()</a:t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4933950" y="5514975"/>
            <a:ext cx="333375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75">
                <a:solidFill>
                  <a:srgbClr val="67DBD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→</a:t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5429250" y="5514975"/>
            <a:ext cx="3095625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B6C4CE"/>
                </a:solidFill>
                <a:latin typeface="Ubuntu"/>
                <a:ea typeface="Ubuntu"/>
                <a:cs typeface="Ubuntu"/>
                <a:sym typeface="Ubuntu"/>
              </a:rPr>
              <a:t>player input</a:t>
            </a:r>
            <a:endParaRPr/>
          </a:p>
        </p:txBody>
      </p:sp>
      <p:sp>
        <p:nvSpPr>
          <p:cNvPr id="67" name="Google Shape;67;p3"/>
          <p:cNvSpPr/>
          <p:nvPr/>
        </p:nvSpPr>
        <p:spPr>
          <a:xfrm>
            <a:off x="762000" y="5962650"/>
            <a:ext cx="40576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F2F5F6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get_computer_choice()</a:t>
            </a:r>
            <a:endParaRPr/>
          </a:p>
        </p:txBody>
      </p:sp>
      <p:sp>
        <p:nvSpPr>
          <p:cNvPr id="68" name="Google Shape;68;p3"/>
          <p:cNvSpPr/>
          <p:nvPr/>
        </p:nvSpPr>
        <p:spPr>
          <a:xfrm>
            <a:off x="4933950" y="5962650"/>
            <a:ext cx="333375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75">
                <a:solidFill>
                  <a:srgbClr val="67DBD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→</a:t>
            </a:r>
            <a:endParaRPr/>
          </a:p>
        </p:txBody>
      </p:sp>
      <p:sp>
        <p:nvSpPr>
          <p:cNvPr id="69" name="Google Shape;69;p3"/>
          <p:cNvSpPr/>
          <p:nvPr/>
        </p:nvSpPr>
        <p:spPr>
          <a:xfrm>
            <a:off x="5429250" y="5962650"/>
            <a:ext cx="3095625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B6C4CE"/>
                </a:solidFill>
                <a:latin typeface="Ubuntu"/>
                <a:ea typeface="Ubuntu"/>
                <a:cs typeface="Ubuntu"/>
                <a:sym typeface="Ubuntu"/>
              </a:rPr>
              <a:t>random choice</a:t>
            </a:r>
            <a:endParaRPr/>
          </a:p>
        </p:txBody>
      </p:sp>
      <p:sp>
        <p:nvSpPr>
          <p:cNvPr id="70" name="Google Shape;70;p3"/>
          <p:cNvSpPr/>
          <p:nvPr/>
        </p:nvSpPr>
        <p:spPr>
          <a:xfrm>
            <a:off x="762000" y="6410325"/>
            <a:ext cx="40576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F2F5F6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determine_winner()</a:t>
            </a:r>
            <a:endParaRPr/>
          </a:p>
        </p:txBody>
      </p:sp>
      <p:sp>
        <p:nvSpPr>
          <p:cNvPr id="71" name="Google Shape;71;p3"/>
          <p:cNvSpPr/>
          <p:nvPr/>
        </p:nvSpPr>
        <p:spPr>
          <a:xfrm>
            <a:off x="4933950" y="6410325"/>
            <a:ext cx="333375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75">
                <a:solidFill>
                  <a:srgbClr val="67DBD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→</a:t>
            </a:r>
            <a:endParaRPr/>
          </a:p>
        </p:txBody>
      </p:sp>
      <p:sp>
        <p:nvSpPr>
          <p:cNvPr id="72" name="Google Shape;72;p3"/>
          <p:cNvSpPr/>
          <p:nvPr/>
        </p:nvSpPr>
        <p:spPr>
          <a:xfrm>
            <a:off x="5429250" y="6410325"/>
            <a:ext cx="3095625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B6C4CE"/>
                </a:solidFill>
                <a:latin typeface="Ubuntu"/>
                <a:ea typeface="Ubuntu"/>
                <a:cs typeface="Ubuntu"/>
                <a:sym typeface="Ubuntu"/>
              </a:rPr>
              <a:t>round result</a:t>
            </a:r>
            <a:endParaRPr/>
          </a:p>
        </p:txBody>
      </p:sp>
      <p:sp>
        <p:nvSpPr>
          <p:cNvPr id="73" name="Google Shape;73;p3"/>
          <p:cNvSpPr/>
          <p:nvPr/>
        </p:nvSpPr>
        <p:spPr>
          <a:xfrm>
            <a:off x="762000" y="6858000"/>
            <a:ext cx="40576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F2F5F6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display_score()</a:t>
            </a: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4933950" y="6858000"/>
            <a:ext cx="333375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75">
                <a:solidFill>
                  <a:srgbClr val="67DBD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→</a:t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5429250" y="6858000"/>
            <a:ext cx="3095625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B6C4CE"/>
                </a:solidFill>
                <a:latin typeface="Ubuntu"/>
                <a:ea typeface="Ubuntu"/>
                <a:cs typeface="Ubuntu"/>
                <a:sym typeface="Ubuntu"/>
              </a:rPr>
              <a:t>current score</a:t>
            </a:r>
            <a:endParaRPr/>
          </a:p>
        </p:txBody>
      </p:sp>
      <p:sp>
        <p:nvSpPr>
          <p:cNvPr id="76" name="Google Shape;76;p3"/>
          <p:cNvSpPr/>
          <p:nvPr/>
        </p:nvSpPr>
        <p:spPr>
          <a:xfrm>
            <a:off x="762000" y="7305675"/>
            <a:ext cx="40576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F2F5F6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start_game()</a:t>
            </a:r>
            <a:endParaRPr/>
          </a:p>
        </p:txBody>
      </p:sp>
      <p:sp>
        <p:nvSpPr>
          <p:cNvPr id="77" name="Google Shape;77;p3"/>
          <p:cNvSpPr/>
          <p:nvPr/>
        </p:nvSpPr>
        <p:spPr>
          <a:xfrm>
            <a:off x="4933950" y="7305675"/>
            <a:ext cx="333375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75">
                <a:solidFill>
                  <a:srgbClr val="67DBD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→</a:t>
            </a:r>
            <a:endParaRPr/>
          </a:p>
        </p:txBody>
      </p:sp>
      <p:sp>
        <p:nvSpPr>
          <p:cNvPr id="78" name="Google Shape;78;p3"/>
          <p:cNvSpPr/>
          <p:nvPr/>
        </p:nvSpPr>
        <p:spPr>
          <a:xfrm>
            <a:off x="5429250" y="7305675"/>
            <a:ext cx="3095625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B6C4CE"/>
                </a:solidFill>
                <a:latin typeface="Ubuntu"/>
                <a:ea typeface="Ubuntu"/>
                <a:cs typeface="Ubuntu"/>
                <a:sym typeface="Ubuntu"/>
              </a:rPr>
              <a:t>full tournament</a:t>
            </a:r>
            <a:endParaRPr/>
          </a:p>
        </p:txBody>
      </p:sp>
      <p:sp>
        <p:nvSpPr>
          <p:cNvPr id="79" name="Google Shape;79;p3"/>
          <p:cNvSpPr/>
          <p:nvPr/>
        </p:nvSpPr>
        <p:spPr>
          <a:xfrm>
            <a:off x="9334500" y="1714500"/>
            <a:ext cx="4000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F2F5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🧩</a:t>
            </a:r>
            <a:endParaRPr/>
          </a:p>
        </p:txBody>
      </p:sp>
      <p:sp>
        <p:nvSpPr>
          <p:cNvPr id="80" name="Google Shape;80;p3"/>
          <p:cNvSpPr/>
          <p:nvPr/>
        </p:nvSpPr>
        <p:spPr>
          <a:xfrm>
            <a:off x="9906000" y="1752600"/>
            <a:ext cx="4572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67DBD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PROJECT STRUCTURE</a:t>
            </a:r>
            <a:endParaRPr/>
          </a:p>
        </p:txBody>
      </p:sp>
      <p:sp>
        <p:nvSpPr>
          <p:cNvPr id="81" name="Google Shape;81;p3"/>
          <p:cNvSpPr/>
          <p:nvPr/>
        </p:nvSpPr>
        <p:spPr>
          <a:xfrm>
            <a:off x="10287000" y="2562225"/>
            <a:ext cx="35242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25">
                <a:solidFill>
                  <a:srgbClr val="F2F5F6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main.ipynb</a:t>
            </a:r>
            <a:endParaRPr/>
          </a:p>
        </p:txBody>
      </p:sp>
      <p:sp>
        <p:nvSpPr>
          <p:cNvPr id="82" name="Google Shape;82;p3"/>
          <p:cNvSpPr/>
          <p:nvPr/>
        </p:nvSpPr>
        <p:spPr>
          <a:xfrm>
            <a:off x="10287000" y="3638550"/>
            <a:ext cx="35242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25">
                <a:solidFill>
                  <a:srgbClr val="67DBD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start_game()</a:t>
            </a:r>
            <a:endParaRPr/>
          </a:p>
        </p:txBody>
      </p:sp>
      <p:sp>
        <p:nvSpPr>
          <p:cNvPr id="83" name="Google Shape;83;p3"/>
          <p:cNvSpPr/>
          <p:nvPr/>
        </p:nvSpPr>
        <p:spPr>
          <a:xfrm>
            <a:off x="10287000" y="4714875"/>
            <a:ext cx="35242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25">
                <a:solidFill>
                  <a:srgbClr val="F2F5F6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game.py</a:t>
            </a:r>
            <a:endParaRPr/>
          </a:p>
        </p:txBody>
      </p:sp>
      <p:cxnSp>
        <p:nvCxnSpPr>
          <p:cNvPr id="84" name="Google Shape;84;p3"/>
          <p:cNvCxnSpPr>
            <a:stCxn id="81" idx="2"/>
            <a:endCxn id="82" idx="0"/>
          </p:cNvCxnSpPr>
          <p:nvPr/>
        </p:nvCxnSpPr>
        <p:spPr>
          <a:xfrm>
            <a:off x="12049125" y="3057525"/>
            <a:ext cx="0" cy="581100"/>
          </a:xfrm>
          <a:prstGeom prst="straightConnector1">
            <a:avLst/>
          </a:prstGeom>
          <a:noFill/>
          <a:ln cap="flat" cmpd="sng" w="19050">
            <a:solidFill>
              <a:srgbClr val="67DBD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85" name="Google Shape;85;p3"/>
          <p:cNvCxnSpPr>
            <a:stCxn id="82" idx="2"/>
            <a:endCxn id="83" idx="0"/>
          </p:cNvCxnSpPr>
          <p:nvPr/>
        </p:nvCxnSpPr>
        <p:spPr>
          <a:xfrm>
            <a:off x="12049125" y="4133850"/>
            <a:ext cx="0" cy="581100"/>
          </a:xfrm>
          <a:prstGeom prst="straightConnector1">
            <a:avLst/>
          </a:prstGeom>
          <a:noFill/>
          <a:ln cap="flat" cmpd="sng" w="19050">
            <a:solidFill>
              <a:srgbClr val="67DBD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86" name="Google Shape;86;p3"/>
          <p:cNvCxnSpPr/>
          <p:nvPr/>
        </p:nvCxnSpPr>
        <p:spPr>
          <a:xfrm>
            <a:off x="12049125" y="5210175"/>
            <a:ext cx="0" cy="514350"/>
          </a:xfrm>
          <a:prstGeom prst="straightConnector1">
            <a:avLst/>
          </a:prstGeom>
          <a:noFill/>
          <a:ln cap="flat" cmpd="sng" w="19050">
            <a:solidFill>
              <a:srgbClr val="67DBD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7" name="Google Shape;87;p3"/>
          <p:cNvCxnSpPr/>
          <p:nvPr/>
        </p:nvCxnSpPr>
        <p:spPr>
          <a:xfrm>
            <a:off x="9572625" y="5724525"/>
            <a:ext cx="4286250" cy="0"/>
          </a:xfrm>
          <a:prstGeom prst="straightConnector1">
            <a:avLst/>
          </a:prstGeom>
          <a:noFill/>
          <a:ln cap="flat" cmpd="sng" w="19050">
            <a:solidFill>
              <a:srgbClr val="67DBD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8" name="Google Shape;88;p3"/>
          <p:cNvCxnSpPr/>
          <p:nvPr/>
        </p:nvCxnSpPr>
        <p:spPr>
          <a:xfrm>
            <a:off x="9572625" y="5724525"/>
            <a:ext cx="0" cy="466725"/>
          </a:xfrm>
          <a:prstGeom prst="straightConnector1">
            <a:avLst/>
          </a:prstGeom>
          <a:noFill/>
          <a:ln cap="flat" cmpd="sng" w="19050">
            <a:solidFill>
              <a:srgbClr val="67DBD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9" name="Google Shape;89;p3"/>
          <p:cNvSpPr/>
          <p:nvPr/>
        </p:nvSpPr>
        <p:spPr>
          <a:xfrm>
            <a:off x="9382125" y="5981700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75">
                <a:solidFill>
                  <a:srgbClr val="67DBD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↓</a:t>
            </a:r>
            <a:endParaRPr/>
          </a:p>
        </p:txBody>
      </p:sp>
      <p:sp>
        <p:nvSpPr>
          <p:cNvPr id="90" name="Google Shape;90;p3"/>
          <p:cNvSpPr/>
          <p:nvPr/>
        </p:nvSpPr>
        <p:spPr>
          <a:xfrm>
            <a:off x="8620125" y="6429375"/>
            <a:ext cx="19050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F2F5F6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one_round.py</a:t>
            </a:r>
            <a:endParaRPr/>
          </a:p>
        </p:txBody>
      </p:sp>
      <p:sp>
        <p:nvSpPr>
          <p:cNvPr id="91" name="Google Shape;91;p3"/>
          <p:cNvSpPr/>
          <p:nvPr/>
        </p:nvSpPr>
        <p:spPr>
          <a:xfrm>
            <a:off x="8572500" y="6953250"/>
            <a:ext cx="20002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B6C4CE"/>
                </a:solidFill>
                <a:latin typeface="Ubuntu"/>
                <a:ea typeface="Ubuntu"/>
                <a:cs typeface="Ubuntu"/>
                <a:sym typeface="Ubuntu"/>
              </a:rPr>
              <a:t>round logic</a:t>
            </a:r>
            <a:endParaRPr/>
          </a:p>
        </p:txBody>
      </p:sp>
      <p:cxnSp>
        <p:nvCxnSpPr>
          <p:cNvPr id="92" name="Google Shape;92;p3"/>
          <p:cNvCxnSpPr/>
          <p:nvPr/>
        </p:nvCxnSpPr>
        <p:spPr>
          <a:xfrm>
            <a:off x="12049125" y="5724525"/>
            <a:ext cx="0" cy="466725"/>
          </a:xfrm>
          <a:prstGeom prst="straightConnector1">
            <a:avLst/>
          </a:prstGeom>
          <a:noFill/>
          <a:ln cap="flat" cmpd="sng" w="19050">
            <a:solidFill>
              <a:srgbClr val="67DBD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3" name="Google Shape;93;p3"/>
          <p:cNvSpPr/>
          <p:nvPr/>
        </p:nvSpPr>
        <p:spPr>
          <a:xfrm>
            <a:off x="11858625" y="5981700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75">
                <a:solidFill>
                  <a:srgbClr val="67DBD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↓</a:t>
            </a:r>
            <a:endParaRPr/>
          </a:p>
        </p:txBody>
      </p:sp>
      <p:sp>
        <p:nvSpPr>
          <p:cNvPr id="94" name="Google Shape;94;p3"/>
          <p:cNvSpPr/>
          <p:nvPr/>
        </p:nvSpPr>
        <p:spPr>
          <a:xfrm>
            <a:off x="11001375" y="6429375"/>
            <a:ext cx="20955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F2F5F6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data.py</a:t>
            </a:r>
            <a:endParaRPr/>
          </a:p>
        </p:txBody>
      </p:sp>
      <p:sp>
        <p:nvSpPr>
          <p:cNvPr id="95" name="Google Shape;95;p3"/>
          <p:cNvSpPr/>
          <p:nvPr/>
        </p:nvSpPr>
        <p:spPr>
          <a:xfrm>
            <a:off x="10953750" y="6953250"/>
            <a:ext cx="21907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B6C4CE"/>
                </a:solidFill>
                <a:latin typeface="Ubuntu"/>
                <a:ea typeface="Ubuntu"/>
                <a:cs typeface="Ubuntu"/>
                <a:sym typeface="Ubuntu"/>
              </a:rPr>
              <a:t>game data</a:t>
            </a:r>
            <a:endParaRPr/>
          </a:p>
        </p:txBody>
      </p:sp>
      <p:cxnSp>
        <p:nvCxnSpPr>
          <p:cNvPr id="96" name="Google Shape;96;p3"/>
          <p:cNvCxnSpPr/>
          <p:nvPr/>
        </p:nvCxnSpPr>
        <p:spPr>
          <a:xfrm>
            <a:off x="13858875" y="5724525"/>
            <a:ext cx="0" cy="466725"/>
          </a:xfrm>
          <a:prstGeom prst="straightConnector1">
            <a:avLst/>
          </a:prstGeom>
          <a:noFill/>
          <a:ln cap="flat" cmpd="sng" w="19050">
            <a:solidFill>
              <a:srgbClr val="67DBD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7" name="Google Shape;97;p3"/>
          <p:cNvSpPr/>
          <p:nvPr/>
        </p:nvSpPr>
        <p:spPr>
          <a:xfrm>
            <a:off x="13668375" y="5981700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75">
                <a:solidFill>
                  <a:srgbClr val="67DBD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↓</a:t>
            </a:r>
            <a:endParaRPr/>
          </a:p>
        </p:txBody>
      </p:sp>
      <p:sp>
        <p:nvSpPr>
          <p:cNvPr id="98" name="Google Shape;98;p3"/>
          <p:cNvSpPr/>
          <p:nvPr/>
        </p:nvSpPr>
        <p:spPr>
          <a:xfrm>
            <a:off x="13001625" y="6429375"/>
            <a:ext cx="17145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F2F5F6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utils.py</a:t>
            </a:r>
            <a:endParaRPr/>
          </a:p>
        </p:txBody>
      </p:sp>
      <p:sp>
        <p:nvSpPr>
          <p:cNvPr id="99" name="Google Shape;99;p3"/>
          <p:cNvSpPr/>
          <p:nvPr/>
        </p:nvSpPr>
        <p:spPr>
          <a:xfrm>
            <a:off x="12954000" y="6953250"/>
            <a:ext cx="18097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B6C4CE"/>
                </a:solidFill>
                <a:latin typeface="Ubuntu"/>
                <a:ea typeface="Ubuntu"/>
                <a:cs typeface="Ubuntu"/>
                <a:sym typeface="Ubuntu"/>
              </a:rPr>
              <a:t>helper output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41D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"/>
          <p:cNvSpPr/>
          <p:nvPr/>
        </p:nvSpPr>
        <p:spPr>
          <a:xfrm>
            <a:off x="762000" y="552450"/>
            <a:ext cx="13716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00">
                <a:solidFill>
                  <a:srgbClr val="F2F5F6"/>
                </a:solidFill>
                <a:latin typeface="Ubuntu"/>
                <a:ea typeface="Ubuntu"/>
                <a:cs typeface="Ubuntu"/>
                <a:sym typeface="Ubuntu"/>
              </a:rPr>
              <a:t>BIGGEST CHALLENGES</a:t>
            </a:r>
            <a:endParaRPr/>
          </a:p>
        </p:txBody>
      </p:sp>
      <p:cxnSp>
        <p:nvCxnSpPr>
          <p:cNvPr id="106" name="Google Shape;106;p4"/>
          <p:cNvCxnSpPr/>
          <p:nvPr/>
        </p:nvCxnSpPr>
        <p:spPr>
          <a:xfrm>
            <a:off x="1266825" y="2000250"/>
            <a:ext cx="0" cy="4762500"/>
          </a:xfrm>
          <a:prstGeom prst="straightConnector1">
            <a:avLst/>
          </a:prstGeom>
          <a:noFill/>
          <a:ln cap="flat" cmpd="sng" w="266700">
            <a:solidFill>
              <a:srgbClr val="243A4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7" name="Google Shape;107;p4"/>
          <p:cNvCxnSpPr/>
          <p:nvPr/>
        </p:nvCxnSpPr>
        <p:spPr>
          <a:xfrm>
            <a:off x="1266825" y="2000250"/>
            <a:ext cx="0" cy="4762500"/>
          </a:xfrm>
          <a:prstGeom prst="straightConnector1">
            <a:avLst/>
          </a:prstGeom>
          <a:noFill/>
          <a:ln cap="flat" cmpd="sng" w="19050">
            <a:solidFill>
              <a:srgbClr val="67DBD1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08" name="Google Shape;108;p4"/>
          <p:cNvSpPr/>
          <p:nvPr/>
        </p:nvSpPr>
        <p:spPr>
          <a:xfrm>
            <a:off x="942975" y="1743075"/>
            <a:ext cx="647700" cy="647700"/>
          </a:xfrm>
          <a:prstGeom prst="ellipse">
            <a:avLst/>
          </a:prstGeom>
          <a:solidFill>
            <a:srgbClr val="0D141D"/>
          </a:solidFill>
          <a:ln cap="flat" cmpd="sng" w="19050">
            <a:solidFill>
              <a:srgbClr val="67DB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"/>
          <p:cNvSpPr/>
          <p:nvPr/>
        </p:nvSpPr>
        <p:spPr>
          <a:xfrm>
            <a:off x="1019175" y="1819275"/>
            <a:ext cx="4953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700">
                <a:solidFill>
                  <a:srgbClr val="F2F5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💭</a:t>
            </a:r>
            <a:endParaRPr/>
          </a:p>
        </p:txBody>
      </p:sp>
      <p:sp>
        <p:nvSpPr>
          <p:cNvPr id="110" name="Google Shape;110;p4"/>
          <p:cNvSpPr/>
          <p:nvPr/>
        </p:nvSpPr>
        <p:spPr>
          <a:xfrm>
            <a:off x="1943100" y="1828800"/>
            <a:ext cx="22383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F2F5F6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Design</a:t>
            </a:r>
            <a:endParaRPr/>
          </a:p>
        </p:txBody>
      </p:sp>
      <p:sp>
        <p:nvSpPr>
          <p:cNvPr id="111" name="Google Shape;111;p4"/>
          <p:cNvSpPr/>
          <p:nvPr/>
        </p:nvSpPr>
        <p:spPr>
          <a:xfrm>
            <a:off x="4457700" y="1704975"/>
            <a:ext cx="100203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B6C4CE"/>
                </a:solidFill>
                <a:latin typeface="Ubuntu"/>
                <a:ea typeface="Ubuntu"/>
                <a:cs typeface="Ubuntu"/>
                <a:sym typeface="Ubuntu"/>
              </a:rPr>
              <a:t>Started with a blank screen and no clear plan</a:t>
            </a:r>
            <a:endParaRPr/>
          </a:p>
        </p:txBody>
      </p:sp>
      <p:sp>
        <p:nvSpPr>
          <p:cNvPr id="112" name="Google Shape;112;p4"/>
          <p:cNvSpPr/>
          <p:nvPr/>
        </p:nvSpPr>
        <p:spPr>
          <a:xfrm>
            <a:off x="4457700" y="2095500"/>
            <a:ext cx="100203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F2F5F6"/>
                </a:solidFill>
                <a:latin typeface="Ubuntu"/>
                <a:ea typeface="Ubuntu"/>
                <a:cs typeface="Ubuntu"/>
                <a:sym typeface="Ubuntu"/>
              </a:rPr>
              <a:t>→ Game design and pseudocode helped me break the project into steps</a:t>
            </a:r>
            <a:endParaRPr/>
          </a:p>
        </p:txBody>
      </p:sp>
      <p:sp>
        <p:nvSpPr>
          <p:cNvPr id="113" name="Google Shape;113;p4"/>
          <p:cNvSpPr/>
          <p:nvPr/>
        </p:nvSpPr>
        <p:spPr>
          <a:xfrm>
            <a:off x="942975" y="2695575"/>
            <a:ext cx="647700" cy="647700"/>
          </a:xfrm>
          <a:prstGeom prst="ellipse">
            <a:avLst/>
          </a:prstGeom>
          <a:solidFill>
            <a:srgbClr val="0D141D"/>
          </a:solidFill>
          <a:ln cap="flat" cmpd="sng" w="19050">
            <a:solidFill>
              <a:srgbClr val="67DB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"/>
          <p:cNvSpPr/>
          <p:nvPr/>
        </p:nvSpPr>
        <p:spPr>
          <a:xfrm>
            <a:off x="1019175" y="2771775"/>
            <a:ext cx="4953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700">
                <a:solidFill>
                  <a:srgbClr val="F2F5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🎮</a:t>
            </a:r>
            <a:endParaRPr/>
          </a:p>
        </p:txBody>
      </p:sp>
      <p:sp>
        <p:nvSpPr>
          <p:cNvPr id="115" name="Google Shape;115;p4"/>
          <p:cNvSpPr/>
          <p:nvPr/>
        </p:nvSpPr>
        <p:spPr>
          <a:xfrm>
            <a:off x="1943100" y="2781300"/>
            <a:ext cx="22383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F2F5F6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MVP</a:t>
            </a:r>
            <a:endParaRPr/>
          </a:p>
        </p:txBody>
      </p:sp>
      <p:sp>
        <p:nvSpPr>
          <p:cNvPr id="116" name="Google Shape;116;p4"/>
          <p:cNvSpPr/>
          <p:nvPr/>
        </p:nvSpPr>
        <p:spPr>
          <a:xfrm>
            <a:off x="4457700" y="2657475"/>
            <a:ext cx="100203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B6C4CE"/>
                </a:solidFill>
                <a:latin typeface="Ubuntu"/>
                <a:ea typeface="Ubuntu"/>
                <a:cs typeface="Ubuntu"/>
                <a:sym typeface="Ubuntu"/>
              </a:rPr>
              <a:t>I had separate code pieces, but they did not work together yet</a:t>
            </a:r>
            <a:endParaRPr/>
          </a:p>
        </p:txBody>
      </p:sp>
      <p:sp>
        <p:nvSpPr>
          <p:cNvPr id="117" name="Google Shape;117;p4"/>
          <p:cNvSpPr/>
          <p:nvPr/>
        </p:nvSpPr>
        <p:spPr>
          <a:xfrm>
            <a:off x="4457700" y="3048000"/>
            <a:ext cx="100203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F2F5F6"/>
                </a:solidFill>
                <a:latin typeface="Ubuntu"/>
                <a:ea typeface="Ubuntu"/>
                <a:cs typeface="Ubuntu"/>
                <a:sym typeface="Ubuntu"/>
              </a:rPr>
              <a:t>→ I connected them into the first working version of the game</a:t>
            </a:r>
            <a:endParaRPr/>
          </a:p>
        </p:txBody>
      </p:sp>
      <p:sp>
        <p:nvSpPr>
          <p:cNvPr id="118" name="Google Shape;118;p4"/>
          <p:cNvSpPr/>
          <p:nvPr/>
        </p:nvSpPr>
        <p:spPr>
          <a:xfrm>
            <a:off x="942975" y="3648075"/>
            <a:ext cx="647700" cy="647700"/>
          </a:xfrm>
          <a:prstGeom prst="ellipse">
            <a:avLst/>
          </a:prstGeom>
          <a:solidFill>
            <a:srgbClr val="0D141D"/>
          </a:solidFill>
          <a:ln cap="flat" cmpd="sng" w="19050">
            <a:solidFill>
              <a:srgbClr val="67DB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4"/>
          <p:cNvSpPr/>
          <p:nvPr/>
        </p:nvSpPr>
        <p:spPr>
          <a:xfrm>
            <a:off x="1019175" y="3724275"/>
            <a:ext cx="4953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700">
                <a:solidFill>
                  <a:srgbClr val="F2F5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🧹</a:t>
            </a:r>
            <a:endParaRPr/>
          </a:p>
        </p:txBody>
      </p:sp>
      <p:sp>
        <p:nvSpPr>
          <p:cNvPr id="120" name="Google Shape;120;p4"/>
          <p:cNvSpPr/>
          <p:nvPr/>
        </p:nvSpPr>
        <p:spPr>
          <a:xfrm>
            <a:off x="1943100" y="3733800"/>
            <a:ext cx="22383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F2F5F6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Clean</a:t>
            </a:r>
            <a:endParaRPr/>
          </a:p>
        </p:txBody>
      </p:sp>
      <p:sp>
        <p:nvSpPr>
          <p:cNvPr id="121" name="Google Shape;121;p4"/>
          <p:cNvSpPr/>
          <p:nvPr/>
        </p:nvSpPr>
        <p:spPr>
          <a:xfrm>
            <a:off x="4457700" y="3609975"/>
            <a:ext cx="100203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B6C4CE"/>
                </a:solidFill>
                <a:latin typeface="Ubuntu"/>
                <a:ea typeface="Ubuntu"/>
                <a:cs typeface="Ubuntu"/>
                <a:sym typeface="Ubuntu"/>
              </a:rPr>
              <a:t>I spent a couple of hours cleaning and reorganizing the code</a:t>
            </a:r>
            <a:endParaRPr/>
          </a:p>
        </p:txBody>
      </p:sp>
      <p:sp>
        <p:nvSpPr>
          <p:cNvPr id="122" name="Google Shape;122;p4"/>
          <p:cNvSpPr/>
          <p:nvPr/>
        </p:nvSpPr>
        <p:spPr>
          <a:xfrm>
            <a:off x="4457700" y="4000500"/>
            <a:ext cx="100203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F2F5F6"/>
                </a:solidFill>
                <a:latin typeface="Ubuntu"/>
                <a:ea typeface="Ubuntu"/>
                <a:cs typeface="Ubuntu"/>
                <a:sym typeface="Ubuntu"/>
              </a:rPr>
              <a:t>→ I kept moving, deleting, and fixing parts until it became clear</a:t>
            </a:r>
            <a:endParaRPr/>
          </a:p>
        </p:txBody>
      </p:sp>
      <p:sp>
        <p:nvSpPr>
          <p:cNvPr id="123" name="Google Shape;123;p4"/>
          <p:cNvSpPr/>
          <p:nvPr/>
        </p:nvSpPr>
        <p:spPr>
          <a:xfrm>
            <a:off x="942975" y="4600575"/>
            <a:ext cx="647700" cy="647700"/>
          </a:xfrm>
          <a:prstGeom prst="ellipse">
            <a:avLst/>
          </a:prstGeom>
          <a:solidFill>
            <a:srgbClr val="0D141D"/>
          </a:solidFill>
          <a:ln cap="flat" cmpd="sng" w="19050">
            <a:solidFill>
              <a:srgbClr val="67DB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"/>
          <p:cNvSpPr/>
          <p:nvPr/>
        </p:nvSpPr>
        <p:spPr>
          <a:xfrm>
            <a:off x="1019175" y="4676775"/>
            <a:ext cx="4953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700">
                <a:solidFill>
                  <a:srgbClr val="F2F5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⚙️</a:t>
            </a:r>
            <a:endParaRPr/>
          </a:p>
        </p:txBody>
      </p:sp>
      <p:sp>
        <p:nvSpPr>
          <p:cNvPr id="125" name="Google Shape;125;p4"/>
          <p:cNvSpPr/>
          <p:nvPr/>
        </p:nvSpPr>
        <p:spPr>
          <a:xfrm>
            <a:off x="1943100" y="4686300"/>
            <a:ext cx="22383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F2F5F6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Functions</a:t>
            </a:r>
            <a:endParaRPr/>
          </a:p>
        </p:txBody>
      </p:sp>
      <p:sp>
        <p:nvSpPr>
          <p:cNvPr id="126" name="Google Shape;126;p4"/>
          <p:cNvSpPr/>
          <p:nvPr/>
        </p:nvSpPr>
        <p:spPr>
          <a:xfrm>
            <a:off x="4457700" y="4562475"/>
            <a:ext cx="100203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B6C4CE"/>
                </a:solidFill>
                <a:latin typeface="Ubuntu"/>
                <a:ea typeface="Ubuntu"/>
                <a:cs typeface="Ubuntu"/>
                <a:sym typeface="Ubuntu"/>
              </a:rPr>
              <a:t>Once the code was organized, turning blocks into functions was easy</a:t>
            </a:r>
            <a:endParaRPr/>
          </a:p>
        </p:txBody>
      </p:sp>
      <p:sp>
        <p:nvSpPr>
          <p:cNvPr id="127" name="Google Shape;127;p4"/>
          <p:cNvSpPr/>
          <p:nvPr/>
        </p:nvSpPr>
        <p:spPr>
          <a:xfrm>
            <a:off x="4457700" y="4953000"/>
            <a:ext cx="100203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F2F5F6"/>
                </a:solidFill>
                <a:latin typeface="Ubuntu"/>
                <a:ea typeface="Ubuntu"/>
                <a:cs typeface="Ubuntu"/>
                <a:sym typeface="Ubuntu"/>
              </a:rPr>
              <a:t>→ I mainly had to group logic and give each function a clear name</a:t>
            </a:r>
            <a:endParaRPr/>
          </a:p>
        </p:txBody>
      </p:sp>
      <p:sp>
        <p:nvSpPr>
          <p:cNvPr id="128" name="Google Shape;128;p4"/>
          <p:cNvSpPr/>
          <p:nvPr/>
        </p:nvSpPr>
        <p:spPr>
          <a:xfrm>
            <a:off x="942975" y="5553075"/>
            <a:ext cx="647700" cy="647700"/>
          </a:xfrm>
          <a:prstGeom prst="ellipse">
            <a:avLst/>
          </a:prstGeom>
          <a:solidFill>
            <a:srgbClr val="0D141D"/>
          </a:solidFill>
          <a:ln cap="flat" cmpd="sng" w="19050">
            <a:solidFill>
              <a:srgbClr val="67DB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4"/>
          <p:cNvSpPr/>
          <p:nvPr/>
        </p:nvSpPr>
        <p:spPr>
          <a:xfrm>
            <a:off x="1019175" y="5629275"/>
            <a:ext cx="4953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700">
                <a:solidFill>
                  <a:srgbClr val="F2F5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📦</a:t>
            </a:r>
            <a:endParaRPr/>
          </a:p>
        </p:txBody>
      </p:sp>
      <p:sp>
        <p:nvSpPr>
          <p:cNvPr id="130" name="Google Shape;130;p4"/>
          <p:cNvSpPr/>
          <p:nvPr/>
        </p:nvSpPr>
        <p:spPr>
          <a:xfrm>
            <a:off x="1943100" y="5638800"/>
            <a:ext cx="22383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F2F5F6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Modules</a:t>
            </a:r>
            <a:endParaRPr/>
          </a:p>
        </p:txBody>
      </p:sp>
      <p:sp>
        <p:nvSpPr>
          <p:cNvPr id="131" name="Google Shape;131;p4"/>
          <p:cNvSpPr/>
          <p:nvPr/>
        </p:nvSpPr>
        <p:spPr>
          <a:xfrm>
            <a:off x="4457700" y="5514975"/>
            <a:ext cx="100203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B6C4CE"/>
                </a:solidFill>
                <a:latin typeface="Ubuntu"/>
                <a:ea typeface="Ubuntu"/>
                <a:cs typeface="Ubuntu"/>
                <a:sym typeface="Ubuntu"/>
              </a:rPr>
              <a:t>Transforming one long code file into separate modules took time</a:t>
            </a:r>
            <a:endParaRPr/>
          </a:p>
        </p:txBody>
      </p:sp>
      <p:sp>
        <p:nvSpPr>
          <p:cNvPr id="132" name="Google Shape;132;p4"/>
          <p:cNvSpPr/>
          <p:nvPr/>
        </p:nvSpPr>
        <p:spPr>
          <a:xfrm>
            <a:off x="4457700" y="5905500"/>
            <a:ext cx="100203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F2F5F6"/>
                </a:solidFill>
                <a:latin typeface="Ubuntu"/>
                <a:ea typeface="Ubuntu"/>
                <a:cs typeface="Ubuntu"/>
                <a:sym typeface="Ubuntu"/>
              </a:rPr>
              <a:t>→ AI helped me understand how to split and connect the files</a:t>
            </a:r>
            <a:endParaRPr/>
          </a:p>
        </p:txBody>
      </p:sp>
      <p:sp>
        <p:nvSpPr>
          <p:cNvPr id="133" name="Google Shape;133;p4"/>
          <p:cNvSpPr/>
          <p:nvPr/>
        </p:nvSpPr>
        <p:spPr>
          <a:xfrm>
            <a:off x="942975" y="6505575"/>
            <a:ext cx="647700" cy="647700"/>
          </a:xfrm>
          <a:prstGeom prst="ellipse">
            <a:avLst/>
          </a:prstGeom>
          <a:solidFill>
            <a:srgbClr val="0D141D"/>
          </a:solidFill>
          <a:ln cap="flat" cmpd="sng" w="19050">
            <a:solidFill>
              <a:srgbClr val="67DB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4"/>
          <p:cNvSpPr/>
          <p:nvPr/>
        </p:nvSpPr>
        <p:spPr>
          <a:xfrm>
            <a:off x="1019175" y="6581775"/>
            <a:ext cx="4953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700">
                <a:solidFill>
                  <a:srgbClr val="F2F5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🔄</a:t>
            </a:r>
            <a:endParaRPr/>
          </a:p>
        </p:txBody>
      </p:sp>
      <p:sp>
        <p:nvSpPr>
          <p:cNvPr id="135" name="Google Shape;135;p4"/>
          <p:cNvSpPr/>
          <p:nvPr/>
        </p:nvSpPr>
        <p:spPr>
          <a:xfrm>
            <a:off x="1943100" y="6591300"/>
            <a:ext cx="22383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F2F5F6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Test &amp; Fix</a:t>
            </a:r>
            <a:endParaRPr/>
          </a:p>
        </p:txBody>
      </p:sp>
      <p:sp>
        <p:nvSpPr>
          <p:cNvPr id="136" name="Google Shape;136;p4"/>
          <p:cNvSpPr/>
          <p:nvPr/>
        </p:nvSpPr>
        <p:spPr>
          <a:xfrm>
            <a:off x="4457700" y="6467475"/>
            <a:ext cx="100203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B6C4CE"/>
                </a:solidFill>
                <a:latin typeface="Ubuntu"/>
                <a:ea typeface="Ubuntu"/>
                <a:cs typeface="Ubuntu"/>
                <a:sym typeface="Ubuntu"/>
              </a:rPr>
              <a:t>During testing, I found that the game did not restart correctly</a:t>
            </a:r>
            <a:endParaRPr/>
          </a:p>
        </p:txBody>
      </p:sp>
      <p:sp>
        <p:nvSpPr>
          <p:cNvPr id="137" name="Google Shape;137;p4"/>
          <p:cNvSpPr/>
          <p:nvPr/>
        </p:nvSpPr>
        <p:spPr>
          <a:xfrm>
            <a:off x="4457700" y="6858000"/>
            <a:ext cx="100203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F2F5F6"/>
                </a:solidFill>
                <a:latin typeface="Ubuntu"/>
                <a:ea typeface="Ubuntu"/>
                <a:cs typeface="Ubuntu"/>
                <a:sym typeface="Ubuntu"/>
              </a:rPr>
              <a:t>→ I fixed it by resetting game_state at the start of start_game()</a:t>
            </a:r>
            <a:endParaRPr/>
          </a:p>
        </p:txBody>
      </p:sp>
      <p:sp>
        <p:nvSpPr>
          <p:cNvPr id="138" name="Google Shape;138;p4"/>
          <p:cNvSpPr/>
          <p:nvPr/>
        </p:nvSpPr>
        <p:spPr>
          <a:xfrm>
            <a:off x="762000" y="7753350"/>
            <a:ext cx="1371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67DBD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💭</a:t>
            </a:r>
            <a:r>
              <a:rPr b="0" lang="en-US" sz="2100">
                <a:solidFill>
                  <a:srgbClr val="67DBD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Design → </a:t>
            </a:r>
            <a:r>
              <a:rPr b="0" lang="en-US" sz="2100">
                <a:solidFill>
                  <a:srgbClr val="67DBD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🎮</a:t>
            </a:r>
            <a:r>
              <a:rPr b="0" lang="en-US" sz="2100">
                <a:solidFill>
                  <a:srgbClr val="67DBD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MVP → </a:t>
            </a:r>
            <a:r>
              <a:rPr b="0" lang="en-US" sz="2100">
                <a:solidFill>
                  <a:srgbClr val="67DBD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🧹</a:t>
            </a:r>
            <a:r>
              <a:rPr b="0" lang="en-US" sz="2100">
                <a:solidFill>
                  <a:srgbClr val="67DBD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Clean → </a:t>
            </a:r>
            <a:r>
              <a:rPr b="0" lang="en-US" sz="2100">
                <a:solidFill>
                  <a:srgbClr val="67DBD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⚙️</a:t>
            </a:r>
            <a:r>
              <a:rPr b="0" lang="en-US" sz="2100">
                <a:solidFill>
                  <a:srgbClr val="67DBD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Functions → </a:t>
            </a:r>
            <a:r>
              <a:rPr b="0" lang="en-US" sz="2100">
                <a:solidFill>
                  <a:srgbClr val="67DBD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📦</a:t>
            </a:r>
            <a:r>
              <a:rPr b="0" lang="en-US" sz="2100">
                <a:solidFill>
                  <a:srgbClr val="67DBD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Modules → </a:t>
            </a:r>
            <a:r>
              <a:rPr b="0" lang="en-US" sz="2100">
                <a:solidFill>
                  <a:srgbClr val="67DBD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🔄</a:t>
            </a:r>
            <a:r>
              <a:rPr b="0" lang="en-US" sz="2100">
                <a:solidFill>
                  <a:srgbClr val="67DBD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Test &amp; Fix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